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4"/>
  </p:sldMasterIdLst>
  <p:notesMasterIdLst>
    <p:notesMasterId r:id="rId15"/>
  </p:notesMasterIdLst>
  <p:handoutMasterIdLst>
    <p:handoutMasterId r:id="rId16"/>
  </p:handoutMasterIdLst>
  <p:sldIdLst>
    <p:sldId id="1519" r:id="rId5"/>
    <p:sldId id="1520" r:id="rId6"/>
    <p:sldId id="1499" r:id="rId7"/>
    <p:sldId id="1515" r:id="rId8"/>
    <p:sldId id="1521" r:id="rId9"/>
    <p:sldId id="1524" r:id="rId10"/>
    <p:sldId id="1502" r:id="rId11"/>
    <p:sldId id="1517" r:id="rId12"/>
    <p:sldId id="1526" r:id="rId13"/>
    <p:sldId id="152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18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9/27/2026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9/27/2026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490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5109526"/>
            <a:ext cx="10923936" cy="641279"/>
          </a:xfrm>
        </p:spPr>
        <p:txBody>
          <a:bodyPr anchor="b">
            <a:noAutofit/>
          </a:bodyPr>
          <a:lstStyle>
            <a:lvl1pPr algn="l">
              <a:defRPr sz="5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7" name="Subtitle 2">
            <a:extLst>
              <a:ext uri="{FF2B5EF4-FFF2-40B4-BE49-F238E27FC236}">
                <a16:creationId xmlns:a16="http://schemas.microsoft.com/office/drawing/2014/main" id="{CDE85611-F29A-5B31-8523-08B6A1185C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9" y="5811724"/>
            <a:ext cx="10923936" cy="40929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 t="-40" b="-40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4029" y="6211605"/>
            <a:ext cx="36576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700589" y="6212217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C7524BB-F0A6-4140-A8AB-1C8A7E34AB03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009325" y="6221013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780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6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4328498" cy="630936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42975" cy="630936"/>
          </a:xfrm>
        </p:spPr>
        <p:txBody>
          <a:bodyPr/>
          <a:lstStyle/>
          <a:p>
            <a:fld id="{7E574385-C0BA-734A-92FC-17834D8EB701}" type="datetime1">
              <a:rPr lang="en-US" smtClean="0"/>
              <a:t>9/27/2026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4096" y="1016954"/>
            <a:ext cx="4306487" cy="3345811"/>
          </a:xfrm>
        </p:spPr>
        <p:txBody>
          <a:bodyPr anchor="b">
            <a:noAutofit/>
          </a:bodyPr>
          <a:lstStyle>
            <a:lvl1pPr algn="l">
              <a:defRPr sz="6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4095" y="4743765"/>
            <a:ext cx="4333869" cy="147923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 l="-32" r="-32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4097" y="0"/>
            <a:ext cx="2447917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58467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6C3E8657-ED4F-2349-80D5-3F1287888601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253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1001715"/>
            <a:ext cx="4714880" cy="3360095"/>
          </a:xfrm>
        </p:spPr>
        <p:txBody>
          <a:bodyPr anchor="t">
            <a:noAutofit/>
          </a:bodyPr>
          <a:lstStyle>
            <a:lvl1pPr algn="l">
              <a:defRPr sz="6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4728526"/>
            <a:ext cx="4714880" cy="14944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4030" y="3586"/>
            <a:ext cx="3154768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845379" y="3586"/>
            <a:ext cx="89831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AA7185-3F7E-9249-BB9E-706C38E229BC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00270" y="3586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5502" y="0"/>
            <a:ext cx="628649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576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011936"/>
            <a:ext cx="7538425" cy="3172503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6000" u="sng" cap="all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7" y="4728525"/>
            <a:ext cx="7538425" cy="1494475"/>
          </a:xfrm>
        </p:spPr>
        <p:txBody>
          <a:bodyPr anchor="b">
            <a:normAutofit/>
          </a:bodyPr>
          <a:lstStyle>
            <a:lvl1pPr marL="0" indent="0" algn="l">
              <a:lnSpc>
                <a:spcPct val="75000"/>
              </a:lnSpc>
              <a:spcBef>
                <a:spcPts val="0"/>
              </a:spcBef>
              <a:spcAft>
                <a:spcPts val="600"/>
              </a:spcAft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j-lt"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j-lt"/>
              </a:defRPr>
            </a:lvl1pPr>
          </a:lstStyle>
          <a:p>
            <a:fld id="{99A48728-1D9C-2F4B-9F0A-BC2AEDF455B4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j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079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1011936"/>
            <a:ext cx="8095016" cy="3335590"/>
          </a:xfrm>
        </p:spPr>
        <p:txBody>
          <a:bodyPr anchor="b">
            <a:normAutofit/>
          </a:bodyPr>
          <a:lstStyle>
            <a:lvl1pPr algn="l">
              <a:defRPr sz="6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9" y="4728526"/>
            <a:ext cx="8095015" cy="1117538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FDA9-B56F-3D40-BA5C-830FD973E5D1}" type="datetime1">
              <a:rPr lang="en-US" smtClean="0"/>
              <a:t>9/27/2026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958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2" y="1011936"/>
            <a:ext cx="7924802" cy="3350830"/>
          </a:xfrm>
        </p:spPr>
        <p:txBody>
          <a:bodyPr anchor="b">
            <a:normAutofit/>
          </a:bodyPr>
          <a:lstStyle>
            <a:lvl1pPr algn="ctr">
              <a:defRPr sz="60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3602" y="4728526"/>
            <a:ext cx="7924801" cy="111753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04B425-AD26-2748-9379-4D52F1178C82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856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2AC2E79-609C-0D1A-9B21-608288E7C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634999"/>
            <a:ext cx="7152035" cy="5588001"/>
          </a:xfrm>
        </p:spPr>
        <p:txBody>
          <a:bodyPr anchor="b">
            <a:normAutofit/>
          </a:bodyPr>
          <a:lstStyle>
            <a:lvl1pPr algn="l">
              <a:defRPr sz="75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03C4BE1-6BC7-07DF-D465-C3B7FD2F9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2448" y="634999"/>
            <a:ext cx="3385516" cy="1494477"/>
          </a:xfrm>
        </p:spPr>
        <p:txBody>
          <a:bodyPr anchor="t">
            <a:normAutofit/>
          </a:bodyPr>
          <a:lstStyle>
            <a:lvl1pPr marL="0" indent="0" algn="r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502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2AC2E79-609C-0D1A-9B21-608288E7C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634999"/>
            <a:ext cx="7152035" cy="5588001"/>
          </a:xfrm>
        </p:spPr>
        <p:txBody>
          <a:bodyPr anchor="b">
            <a:normAutofit/>
          </a:bodyPr>
          <a:lstStyle>
            <a:lvl1pPr algn="l">
              <a:defRPr sz="75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03C4BE1-6BC7-07DF-D465-C3B7FD2F9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2448" y="634999"/>
            <a:ext cx="3385516" cy="1494477"/>
          </a:xfrm>
        </p:spPr>
        <p:txBody>
          <a:bodyPr anchor="t">
            <a:normAutofit/>
          </a:bodyPr>
          <a:lstStyle>
            <a:lvl1pPr marL="0" indent="0" algn="r">
              <a:buNone/>
              <a:defRPr sz="2000" b="1" i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677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748474"/>
            <a:ext cx="7538425" cy="4474526"/>
          </a:xfrm>
        </p:spPr>
        <p:txBody>
          <a:bodyPr anchor="b">
            <a:normAutofit/>
          </a:bodyPr>
          <a:lstStyle>
            <a:lvl1pPr algn="l"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5051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748474"/>
            <a:ext cx="7538425" cy="4474526"/>
          </a:xfrm>
        </p:spPr>
        <p:txBody>
          <a:bodyPr anchor="b">
            <a:normAutofit/>
          </a:bodyPr>
          <a:lstStyle>
            <a:lvl1pPr algn="l"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7587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lcom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5652464" cy="2613336"/>
          </a:xfrm>
        </p:spPr>
        <p:txBody>
          <a:bodyPr anchor="b">
            <a:noAutofit/>
          </a:bodyPr>
          <a:lstStyle>
            <a:lvl1pPr>
              <a:defRPr sz="6000" u="sng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432849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4297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F2758A-C3D6-E84B-B3E9-757EFEF52D55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29" y="3996050"/>
            <a:ext cx="5652464" cy="2226950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8" name="Picture Placeholder 7">
            <a:extLst>
              <a:ext uri="{FF2B5EF4-FFF2-40B4-BE49-F238E27FC236}">
                <a16:creationId xmlns:a16="http://schemas.microsoft.com/office/drawing/2014/main" id="{DEE8CE2C-7AFC-E265-19EB-F76884D5992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43095" y="630936"/>
            <a:ext cx="4714870" cy="5592064"/>
          </a:xfrm>
          <a:blipFill dpi="0" rotWithShape="1">
            <a:blip r:embed="rId2">
              <a:alphaModFix amt="60000"/>
            </a:blip>
            <a:srcRect/>
            <a:stretch>
              <a:fillRect l="-40" r="-40"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9107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001715"/>
            <a:ext cx="4663440" cy="2241233"/>
          </a:xfrm>
        </p:spPr>
        <p:txBody>
          <a:bodyPr anchor="t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3095" y="0"/>
            <a:ext cx="282891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7112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EEECD8D-53A7-3A4F-8909-5ECB0FEF37FB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3623950"/>
            <a:ext cx="4663440" cy="2539106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sz="180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sz="1600">
                <a:solidFill>
                  <a:schemeClr val="tx1"/>
                </a:solidFill>
              </a:defRPr>
            </a:lvl3pPr>
            <a:lvl4pPr marL="1028700" indent="-342900">
              <a:buFont typeface="+mj-lt"/>
              <a:buAutoNum type="arabicPeriod"/>
              <a:defRPr sz="140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243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2129475"/>
            <a:ext cx="4719430" cy="2599051"/>
          </a:xfrm>
        </p:spPr>
        <p:txBody>
          <a:bodyPr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07E3B5C-D099-9543-A57D-129299D311F4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3095" y="2129475"/>
            <a:ext cx="4158283" cy="2599051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89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748474"/>
            <a:ext cx="4328498" cy="3726812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FDDB5BF-28B0-5C4D-A64A-E611B8C77204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1748473"/>
            <a:ext cx="6209053" cy="37268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17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381759"/>
            <a:ext cx="4347849" cy="4841241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82B860-5E2A-1340-A6D3-E276E55F2222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1381759"/>
            <a:ext cx="6209054" cy="484124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2883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001715"/>
            <a:ext cx="4347850" cy="4855526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676C7A-4B29-7743-AB3A-5EEF28262A7C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1001715"/>
            <a:ext cx="6209053" cy="485552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5749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2" y="1001715"/>
            <a:ext cx="3385529" cy="5221285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826AE1-158D-A74A-A5C8-25E57C484C69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05935" y="1001715"/>
            <a:ext cx="7152029" cy="522128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1736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10923935" cy="1127760"/>
          </a:xfrm>
        </p:spPr>
        <p:txBody>
          <a:bodyPr>
            <a:noAutofit/>
          </a:bodyPr>
          <a:lstStyle>
            <a:lvl1pPr>
              <a:defRPr sz="6000" u="sng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432849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4297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1EC562-4E50-D34B-8F39-5DD0D018EB66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29" y="2495234"/>
            <a:ext cx="10923935" cy="372776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7858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11936"/>
            <a:ext cx="8481400" cy="1484254"/>
          </a:xfrm>
        </p:spPr>
        <p:txBody>
          <a:bodyPr anchor="t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EDD5DD5-92AA-6440-87DE-277C532BE8AC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29" y="2877190"/>
            <a:ext cx="8481400" cy="334581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>
                <a:solidFill>
                  <a:schemeClr val="tx1"/>
                </a:solidFill>
              </a:defRPr>
            </a:lvl1pPr>
            <a:lvl2pPr marL="685800" indent="-457200"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sz="1800">
                <a:solidFill>
                  <a:schemeClr val="tx1"/>
                </a:solidFill>
              </a:defRPr>
            </a:lvl3pPr>
            <a:lvl4pPr marL="1028700" indent="-342900">
              <a:buFont typeface="+mj-lt"/>
              <a:buAutoNum type="arabicPeriod"/>
              <a:defRPr sz="1600">
                <a:solidFill>
                  <a:schemeClr val="tx1"/>
                </a:solidFill>
              </a:defRPr>
            </a:lvl4pPr>
            <a:lvl5pPr marL="1257300" indent="-342900">
              <a:buFont typeface="+mj-lt"/>
              <a:buAutoNum type="arabicPeriod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8270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8911" y="1001714"/>
            <a:ext cx="6209053" cy="1122374"/>
          </a:xfrm>
        </p:spPr>
        <p:txBody>
          <a:bodyPr anchor="t"/>
          <a:lstStyle>
            <a:lvl1pPr>
              <a:defRPr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43096" y="0"/>
            <a:ext cx="282891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700589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3C78A78-9BD4-2540-9BAB-27AD9352B454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90490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8911" y="2496189"/>
            <a:ext cx="6209053" cy="372681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385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4"/>
            <a:ext cx="6209066" cy="1121419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34028" y="0"/>
            <a:ext cx="3181348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859766" y="0"/>
            <a:ext cx="896113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B5BCBD1-B884-5B4C-ACE8-81AA2A39E888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800270" y="0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8" y="2495234"/>
            <a:ext cx="6209066" cy="372776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62823" y="0"/>
            <a:ext cx="492917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7176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936" y="1001714"/>
            <a:ext cx="7152028" cy="1122374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1954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71664" y="0"/>
            <a:ext cx="2800349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700589" y="0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61CBF7-6530-194B-9FC2-12E7E7738880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2496189"/>
            <a:ext cx="7152028" cy="37268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263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4"/>
            <a:ext cx="6587506" cy="1112519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8" y="2495234"/>
            <a:ext cx="6595451" cy="372776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34028" y="0"/>
            <a:ext cx="3177059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848478" y="0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FA5E271-D672-F147-B371-ABF5E56F00EC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800269" y="0"/>
            <a:ext cx="548641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72454" y="0"/>
            <a:ext cx="401954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457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3095" y="1019803"/>
            <a:ext cx="4714869" cy="1109672"/>
          </a:xfrm>
        </p:spPr>
        <p:txBody>
          <a:bodyPr anchor="t"/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28649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3095" y="0"/>
            <a:ext cx="2828918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0581" y="0"/>
            <a:ext cx="914407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C79DE5A-E0D1-2647-9D82-FBDAE5DFB807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2514279"/>
            <a:ext cx="4714869" cy="37087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004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5"/>
            <a:ext cx="4714881" cy="1108746"/>
          </a:xfrm>
        </p:spPr>
        <p:txBody>
          <a:bodyPr anchor="t"/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2515204"/>
            <a:ext cx="4714881" cy="37077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8" y="0"/>
            <a:ext cx="280540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30190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E69D102-A2FD-8743-85DB-14F8D0C32AC3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0270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5502" y="0"/>
            <a:ext cx="628649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333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3095" y="1011935"/>
            <a:ext cx="4714869" cy="1112153"/>
          </a:xfrm>
        </p:spPr>
        <p:txBody>
          <a:bodyPr anchor="b"/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3237" y="0"/>
            <a:ext cx="283687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87910" y="0"/>
            <a:ext cx="92708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A9F1854-4AF0-ED49-AE83-182A816927B5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9" y="630936"/>
            <a:ext cx="5652469" cy="5592063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61021" y="2496190"/>
            <a:ext cx="4696943" cy="372680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390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4"/>
            <a:ext cx="4714880" cy="1121417"/>
          </a:xfrm>
        </p:spPr>
        <p:txBody>
          <a:bodyPr anchor="t"/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8" y="0"/>
            <a:ext cx="280540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48478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E8F57D1-DD5E-4E44-98C5-7D5639D55A57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0269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2495233"/>
            <a:ext cx="4736136" cy="37277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5502" y="0"/>
            <a:ext cx="628649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564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2454" y="992921"/>
            <a:ext cx="3385510" cy="1117539"/>
          </a:xfrm>
        </p:spPr>
        <p:txBody>
          <a:bodyPr anchor="t">
            <a:noAutofit/>
          </a:bodyPr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172454" y="0"/>
            <a:ext cx="1735843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911643" y="0"/>
            <a:ext cx="700007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B83C81-A524-F840-ABC9-B6BB50E4A13C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3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2454" y="2515204"/>
            <a:ext cx="3385510" cy="37077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6502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5"/>
            <a:ext cx="3380187" cy="1108746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8" y="0"/>
            <a:ext cx="208377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23140" y="0"/>
            <a:ext cx="716293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BA8DA53-5E6D-4942-B673-3E50E3C9DB93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65575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2491461"/>
            <a:ext cx="3380313" cy="373153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9903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2454" y="994222"/>
            <a:ext cx="3385510" cy="1882967"/>
          </a:xfrm>
        </p:spPr>
        <p:txBody>
          <a:bodyPr anchor="b"/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2455" y="0"/>
            <a:ext cx="1735844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16244" y="0"/>
            <a:ext cx="695406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BA35C60-A52E-0F44-95C1-79561B62B391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34" name="Slide Number Placeholder 9">
            <a:extLst>
              <a:ext uri="{FF2B5EF4-FFF2-40B4-BE49-F238E27FC236}">
                <a16:creationId xmlns:a16="http://schemas.microsoft.com/office/drawing/2014/main" id="{64F22B5B-7B07-4638-1ED2-E13EDE05C19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2454" y="3251766"/>
            <a:ext cx="3385510" cy="297123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28600" indent="0"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 sz="1200">
                <a:solidFill>
                  <a:schemeClr val="tx1"/>
                </a:solidFill>
              </a:defRPr>
            </a:lvl3pPr>
            <a:lvl4pPr marL="685800" indent="0">
              <a:buNone/>
              <a:defRPr sz="1100">
                <a:solidFill>
                  <a:schemeClr val="tx1"/>
                </a:solidFill>
              </a:defRPr>
            </a:lvl4pPr>
            <a:lvl5pPr marL="914400" indent="0">
              <a:buNone/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6740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5100628"/>
            <a:ext cx="4328498" cy="1122373"/>
          </a:xfrm>
        </p:spPr>
        <p:txBody>
          <a:bodyPr anchor="t">
            <a:noAutofit/>
          </a:bodyPr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72852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100627"/>
            <a:ext cx="6208724" cy="1122373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6211605"/>
            <a:ext cx="36576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8540" y="6211605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5E8027-836D-F64B-BBF7-A246E67FE0A3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6211605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4981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4353866"/>
            <a:ext cx="2828932" cy="1869134"/>
          </a:xfrm>
        </p:spPr>
        <p:txBody>
          <a:bodyPr anchor="t">
            <a:normAutofit/>
          </a:bodyPr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9552" y="4353866"/>
            <a:ext cx="7538412" cy="1869134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3pPr>
            <a:lvl4pPr marL="85725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10858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6211605"/>
            <a:ext cx="36576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8540" y="6211605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D38C6B-BFF0-FA48-8F70-77BDD72A014D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6211605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72022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27443"/>
            <a:ext cx="2828926" cy="1826790"/>
          </a:xfrm>
        </p:spPr>
        <p:txBody>
          <a:bodyPr anchor="t">
            <a:normAutofit/>
          </a:bodyPr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9552" y="634999"/>
            <a:ext cx="7538412" cy="1861191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3pPr>
            <a:lvl4pPr marL="85725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10858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2805405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8540" y="0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0AF01B-D893-9C4D-8AB8-7E6079CED5E9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8258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1011936"/>
            <a:ext cx="10945318" cy="745437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4623E1-10D5-C048-8991-E2228A964ED1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2129474"/>
            <a:ext cx="6230450" cy="40935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4097" y="2129474"/>
            <a:ext cx="4333867" cy="412819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9039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5"/>
            <a:ext cx="4714881" cy="1121418"/>
          </a:xfrm>
        </p:spPr>
        <p:txBody>
          <a:bodyPr>
            <a:normAutofit/>
          </a:bodyPr>
          <a:lstStyle>
            <a:lvl1pPr>
              <a:defRPr sz="36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DB6E09-373C-2841-960E-B24A18A7C55D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8" y="2495234"/>
            <a:ext cx="4706938" cy="372776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86499" y="1001715"/>
            <a:ext cx="5292853" cy="522128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1538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996695"/>
            <a:ext cx="3771907" cy="1126438"/>
          </a:xfrm>
        </p:spPr>
        <p:txBody>
          <a:bodyPr anchor="t">
            <a:normAutofit/>
          </a:bodyPr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CB72DF-080D-4042-863C-D2B08AB5E1E8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9" y="2495234"/>
            <a:ext cx="3717934" cy="372776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2" y="1005779"/>
            <a:ext cx="6615116" cy="53029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185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6" y="4531056"/>
            <a:ext cx="6209067" cy="1691943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C5D9B6A-47DB-D845-97C7-9775E46E650D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7" y="630937"/>
            <a:ext cx="6209067" cy="350433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9479" y="630937"/>
            <a:ext cx="4328485" cy="559206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2pPr>
            <a:lvl3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3pPr>
            <a:lvl4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0821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15" y="5109526"/>
            <a:ext cx="6209079" cy="1113474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2" y="1011935"/>
            <a:ext cx="10923942" cy="3716591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567802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3" y="5109526"/>
            <a:ext cx="7916856" cy="111347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11935"/>
            <a:ext cx="10923935" cy="3716591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8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37487662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3" y="5109526"/>
            <a:ext cx="7916856" cy="124555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11936"/>
            <a:ext cx="10923935" cy="3665730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None/>
              <a:defRPr sz="28000" b="0" i="0" u="sng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3354092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4508" y="1001715"/>
            <a:ext cx="3393455" cy="5221285"/>
          </a:xfrm>
        </p:spPr>
        <p:txBody>
          <a:bodyPr anchor="b">
            <a:normAutofit/>
          </a:bodyPr>
          <a:lstStyle>
            <a:lvl1pPr algn="l">
              <a:lnSpc>
                <a:spcPct val="110000"/>
              </a:lnSpc>
              <a:defRPr sz="2000" b="1" i="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40964"/>
            <a:ext cx="7144095" cy="5846064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None/>
              <a:defRPr sz="28000" b="0" i="0" u="sng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147816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4508" y="1001715"/>
            <a:ext cx="3393455" cy="5221285"/>
          </a:xfrm>
        </p:spPr>
        <p:txBody>
          <a:bodyPr anchor="b">
            <a:normAutofit/>
          </a:bodyPr>
          <a:lstStyle>
            <a:lvl1pPr algn="l">
              <a:lnSpc>
                <a:spcPct val="110000"/>
              </a:lnSpc>
              <a:defRPr sz="2000" b="1" i="0" u="none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40964"/>
            <a:ext cx="7144095" cy="5846064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None/>
              <a:defRPr sz="28000" b="0" i="0" u="sng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6726619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795663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A2AD571-8A42-FC4D-8DD1-0DD76ABF057B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001715"/>
            <a:ext cx="8502777" cy="522128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 u="sng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800" b="1" u="sng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400" b="1" u="sng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4000" b="1" u="sng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600" b="1" u="sng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489875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700784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F588B4-CB59-614E-93AB-9F331D0D8D83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764792"/>
            <a:ext cx="8481400" cy="44582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0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3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954089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891284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A8851A9-1959-C54C-A050-24BB5C598FE4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11936"/>
            <a:ext cx="8481400" cy="5211064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0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3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685041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891284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432BBD40-9FB7-E148-AC1B-3919D230BEB1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8" y="1011936"/>
            <a:ext cx="9074511" cy="5211064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6000" b="1" i="0" u="sng">
                <a:solidFill>
                  <a:schemeClr val="accent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1" i="0">
                <a:solidFill>
                  <a:schemeClr val="accent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1" i="0">
                <a:solidFill>
                  <a:schemeClr val="accent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1" i="0">
                <a:solidFill>
                  <a:schemeClr val="accent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1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804305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7005" y="5475284"/>
            <a:ext cx="9037984" cy="74771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B7B831F-0525-DF47-A6D2-509FE238C6D0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77004" y="1005779"/>
            <a:ext cx="9037985" cy="4103745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06903786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9066" y="5475285"/>
            <a:ext cx="9045923" cy="74771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3EBDBC-CFAC-9946-A2F3-D6402690E4D2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69066" y="1001715"/>
            <a:ext cx="9053874" cy="4107810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6334030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28" y="5475285"/>
            <a:ext cx="9074512" cy="74771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42C378-8FD2-C449-B7AA-6F7022066293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8" y="1011936"/>
            <a:ext cx="9037985" cy="371659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81588254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640203"/>
            <a:ext cx="10923934" cy="1099006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5AA9746-49E3-1D49-A044-597FC2272B5D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2120209"/>
            <a:ext cx="10923935" cy="4102791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647606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1001715"/>
            <a:ext cx="10923934" cy="747715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5AA9746-49E3-1D49-A044-597FC2272B5D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2120209"/>
            <a:ext cx="10923935" cy="4102791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5872294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4" y="1010613"/>
            <a:ext cx="10945189" cy="746759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7BE2A0-CBC1-A842-B334-0B3B571BCC28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28" y="2129474"/>
            <a:ext cx="5271473" cy="40935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3941" y="2129475"/>
            <a:ext cx="5274021" cy="409352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74277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10614"/>
            <a:ext cx="10923934" cy="746760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54D687F-3261-A345-B9E7-76DD0579BB9D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28" y="2120575"/>
            <a:ext cx="5271474" cy="37561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3940" y="2120575"/>
            <a:ext cx="5274023" cy="37561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28" y="2877190"/>
            <a:ext cx="5266092" cy="33458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6500" y="2877190"/>
            <a:ext cx="5271464" cy="33458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462334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11936"/>
            <a:ext cx="10923935" cy="1865254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5C9DF99-DDC2-894B-B2EC-BE93B405C6CB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58173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7E1AAE6-D11F-2F46-A437-EC693200CDD7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33077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996695"/>
            <a:ext cx="3763961" cy="1314426"/>
          </a:xfrm>
        </p:spPr>
        <p:txBody>
          <a:bodyPr anchor="t">
            <a:normAutofit/>
          </a:bodyPr>
          <a:lstStyle>
            <a:lvl1pPr>
              <a:defRPr sz="28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95903C-EDC1-ED4F-958F-696903391605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8" y="2495234"/>
            <a:ext cx="3763961" cy="3727766"/>
          </a:xfrm>
        </p:spPr>
        <p:txBody>
          <a:bodyPr anchor="t"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474" y="1005779"/>
            <a:ext cx="6604492" cy="5217221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5055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30936"/>
            <a:ext cx="3793283" cy="2246253"/>
          </a:xfrm>
        </p:spPr>
        <p:txBody>
          <a:bodyPr anchor="t">
            <a:normAutofit/>
          </a:bodyPr>
          <a:lstStyle>
            <a:lvl1pPr>
              <a:defRPr sz="28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DC713B-25C9-B74A-9BBC-A695A5E98312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1" y="3242949"/>
            <a:ext cx="3763969" cy="3017826"/>
          </a:xfrm>
        </p:spPr>
        <p:txBody>
          <a:bodyPr anchor="b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2523" y="630937"/>
            <a:ext cx="6616830" cy="5592064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49805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982085"/>
            <a:ext cx="7538425" cy="1895105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D5279E-0E3B-B54D-9B59-E121D9B3AFDB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28" y="3242949"/>
            <a:ext cx="10923935" cy="2980051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394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81760"/>
            <a:ext cx="8481400" cy="1852292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9E747C-1B1C-1345-96BA-B9E64C23A7BC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3614097"/>
            <a:ext cx="8481400" cy="1861187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28600" indent="0"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buNone/>
              <a:defRPr sz="1800">
                <a:solidFill>
                  <a:schemeClr val="tx1"/>
                </a:solidFill>
              </a:defRPr>
            </a:lvl3pPr>
            <a:lvl4pPr marL="685800" indent="0">
              <a:buNone/>
              <a:defRPr sz="1600">
                <a:solidFill>
                  <a:schemeClr val="tx1"/>
                </a:solidFill>
              </a:defRPr>
            </a:lvl4pPr>
            <a:lvl5pPr marL="91440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1228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81760"/>
            <a:ext cx="7731038" cy="3346766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09DA23C4-A9FB-DB4A-B7DD-A0A5161EF3E0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5109526"/>
            <a:ext cx="6595450" cy="1113474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2pPr>
            <a:lvl3pPr marL="4572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3pPr>
            <a:lvl4pPr marL="6858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4pPr>
            <a:lvl5pPr marL="9144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0278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10923935" cy="14944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08540" y="0"/>
            <a:ext cx="914400" cy="630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  <a:latin typeface="+mj-lt"/>
              </a:defRPr>
            </a:lvl1pPr>
          </a:lstStyle>
          <a:p>
            <a:fld id="{D90E5A07-4FDA-D34C-BE60-17876FEEBAA5}" type="datetime1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4029" y="0"/>
            <a:ext cx="3657600" cy="630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9324" y="0"/>
            <a:ext cx="548640" cy="630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bg1"/>
                </a:solidFill>
                <a:latin typeface="+mj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29" y="2877190"/>
            <a:ext cx="10923935" cy="33458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973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9" r:id="rId5"/>
    <p:sldLayoutId id="2147483780" r:id="rId6"/>
    <p:sldLayoutId id="2147483781" r:id="rId7"/>
    <p:sldLayoutId id="2147483782" r:id="rId8"/>
    <p:sldLayoutId id="2147483832" r:id="rId9"/>
    <p:sldLayoutId id="2147483783" r:id="rId10"/>
    <p:sldLayoutId id="2147483833" r:id="rId11"/>
    <p:sldLayoutId id="2147483784" r:id="rId12"/>
    <p:sldLayoutId id="2147483785" r:id="rId13"/>
    <p:sldLayoutId id="2147483786" r:id="rId14"/>
    <p:sldLayoutId id="2147483787" r:id="rId15"/>
    <p:sldLayoutId id="2147483788" r:id="rId16"/>
    <p:sldLayoutId id="2147483789" r:id="rId17"/>
    <p:sldLayoutId id="2147483790" r:id="rId18"/>
    <p:sldLayoutId id="2147483791" r:id="rId19"/>
    <p:sldLayoutId id="2147483792" r:id="rId20"/>
    <p:sldLayoutId id="2147483793" r:id="rId21"/>
    <p:sldLayoutId id="2147483794" r:id="rId22"/>
    <p:sldLayoutId id="2147483795" r:id="rId23"/>
    <p:sldLayoutId id="2147483796" r:id="rId24"/>
    <p:sldLayoutId id="2147483797" r:id="rId25"/>
    <p:sldLayoutId id="2147483798" r:id="rId26"/>
    <p:sldLayoutId id="2147483799" r:id="rId27"/>
    <p:sldLayoutId id="2147483800" r:id="rId28"/>
    <p:sldLayoutId id="2147483801" r:id="rId29"/>
    <p:sldLayoutId id="2147483802" r:id="rId30"/>
    <p:sldLayoutId id="2147483803" r:id="rId31"/>
    <p:sldLayoutId id="2147483804" r:id="rId32"/>
    <p:sldLayoutId id="2147483805" r:id="rId33"/>
    <p:sldLayoutId id="2147483806" r:id="rId34"/>
    <p:sldLayoutId id="2147483807" r:id="rId35"/>
    <p:sldLayoutId id="2147483808" r:id="rId36"/>
    <p:sldLayoutId id="2147483809" r:id="rId37"/>
    <p:sldLayoutId id="2147483810" r:id="rId38"/>
    <p:sldLayoutId id="2147483811" r:id="rId39"/>
    <p:sldLayoutId id="2147483812" r:id="rId40"/>
    <p:sldLayoutId id="2147483813" r:id="rId41"/>
    <p:sldLayoutId id="2147483814" r:id="rId42"/>
    <p:sldLayoutId id="2147483834" r:id="rId43"/>
    <p:sldLayoutId id="2147483815" r:id="rId44"/>
    <p:sldLayoutId id="2147483816" r:id="rId45"/>
    <p:sldLayoutId id="2147483817" r:id="rId46"/>
    <p:sldLayoutId id="2147483818" r:id="rId47"/>
    <p:sldLayoutId id="2147483819" r:id="rId48"/>
    <p:sldLayoutId id="2147483820" r:id="rId49"/>
    <p:sldLayoutId id="2147483821" r:id="rId50"/>
    <p:sldLayoutId id="2147483822" r:id="rId51"/>
    <p:sldLayoutId id="2147483835" r:id="rId52"/>
    <p:sldLayoutId id="2147483823" r:id="rId53"/>
    <p:sldLayoutId id="2147483824" r:id="rId54"/>
    <p:sldLayoutId id="2147483825" r:id="rId55"/>
    <p:sldLayoutId id="2147483826" r:id="rId56"/>
    <p:sldLayoutId id="2147483827" r:id="rId57"/>
    <p:sldLayoutId id="2147483828" r:id="rId58"/>
    <p:sldLayoutId id="2147483829" r:id="rId59"/>
    <p:sldLayoutId id="2147483830" r:id="rId60"/>
    <p:sldLayoutId id="2147483831" r:id="rId6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1" u="sng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2608C23-AAC7-24F5-F2C0-159F3F981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634999"/>
            <a:ext cx="7152035" cy="5588001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Impacto de la </a:t>
            </a:r>
            <a:r>
              <a:rPr lang="en-US" dirty="0" err="1"/>
              <a:t>Campaña</a:t>
            </a:r>
            <a:r>
              <a:rPr lang="en-US" dirty="0"/>
              <a:t> WhatsApp</a:t>
            </a:r>
            <a:endParaRPr lang="en-US" b="0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DE37C8C-B9EB-77D8-9402-9E66A29BE4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2448" y="634999"/>
            <a:ext cx="3385516" cy="1494477"/>
          </a:xfrm>
        </p:spPr>
        <p:txBody>
          <a:bodyPr/>
          <a:lstStyle/>
          <a:p>
            <a:r>
              <a:rPr lang="en-US" dirty="0" err="1"/>
              <a:t>Presentado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: </a:t>
            </a:r>
          </a:p>
          <a:p>
            <a:r>
              <a:rPr lang="en-US" dirty="0"/>
              <a:t>Manuel F. Merch</a:t>
            </a:r>
            <a:r>
              <a:rPr lang="es-CO" dirty="0" err="1"/>
              <a:t>án</a:t>
            </a:r>
            <a:r>
              <a:rPr lang="es-CO" dirty="0"/>
              <a:t> 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11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B9519-237E-F154-0775-DC5A3CDF7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5652464" cy="2613336"/>
          </a:xfrm>
        </p:spPr>
        <p:txBody>
          <a:bodyPr/>
          <a:lstStyle/>
          <a:p>
            <a:r>
              <a:rPr lang="en-US" dirty="0" err="1"/>
              <a:t>Contexto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ACC6B-C7FD-0935-2022-57CCC9D64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29" y="3996050"/>
            <a:ext cx="5652464" cy="22269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dirty="0"/>
              <a:t>El equipo de operaciones lanzó la "Campaña" vía WhatsApp para motivar a los clientes a realizar pedidos. Sin embargo, los supervisores intuyen que la campaña está generando fricción, los asesores parecen saturados y no hay visibilidad real sobre el éxito de las entregas.</a:t>
            </a:r>
            <a:endParaRPr lang="en-US" dirty="0"/>
          </a:p>
        </p:txBody>
      </p:sp>
      <p:pic>
        <p:nvPicPr>
          <p:cNvPr id="4" name="Picture 3" descr="The Best Private Messaging App for 2026 - DXB Apps">
            <a:extLst>
              <a:ext uri="{FF2B5EF4-FFF2-40B4-BE49-F238E27FC236}">
                <a16:creationId xmlns:a16="http://schemas.microsoft.com/office/drawing/2014/main" id="{59E8BC9B-F4EA-36CA-9AA9-A6C7DB746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3361" y="715602"/>
            <a:ext cx="389798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579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C7084-C959-6935-0D99-455326A78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748474"/>
            <a:ext cx="7538425" cy="4474526"/>
          </a:xfrm>
        </p:spPr>
        <p:txBody>
          <a:bodyPr/>
          <a:lstStyle/>
          <a:p>
            <a:r>
              <a:rPr lang="en-US" dirty="0"/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1751885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39CEF684-A06B-B8FE-458F-2FBDE5FC8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9328" y="156754"/>
            <a:ext cx="6213344" cy="583475"/>
          </a:xfrm>
        </p:spPr>
        <p:txBody>
          <a:bodyPr>
            <a:noAutofit/>
          </a:bodyPr>
          <a:lstStyle/>
          <a:p>
            <a:r>
              <a:rPr lang="en-US" sz="2400" dirty="0" err="1"/>
              <a:t>Análisis</a:t>
            </a:r>
            <a:r>
              <a:rPr lang="en-US" sz="2400" dirty="0"/>
              <a:t> de </a:t>
            </a:r>
            <a:r>
              <a:rPr lang="en-US" sz="2400" dirty="0" err="1"/>
              <a:t>Tráfico</a:t>
            </a:r>
            <a:r>
              <a:rPr lang="en-US" sz="2400" dirty="0"/>
              <a:t> de </a:t>
            </a:r>
            <a:r>
              <a:rPr lang="en-US" sz="2400" dirty="0" err="1"/>
              <a:t>Mensajería</a:t>
            </a:r>
            <a:r>
              <a:rPr lang="en-US" sz="2400" dirty="0"/>
              <a:t> y </a:t>
            </a:r>
            <a:r>
              <a:rPr lang="en-US" sz="2400" dirty="0" err="1"/>
              <a:t>Soporte</a:t>
            </a: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2B33AE-61CF-B90B-97AC-F1F5760B3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412" y="740229"/>
            <a:ext cx="10499176" cy="59449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08536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A1DC5B-8FBC-A622-B707-006DE6C54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413" y="-792480"/>
            <a:ext cx="11579225" cy="792480"/>
          </a:xfrm>
        </p:spPr>
        <p:txBody>
          <a:bodyPr/>
          <a:lstStyle/>
          <a:p>
            <a:r>
              <a:rPr lang="en-US" dirty="0"/>
              <a:t>Quote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7DDE55-A8FE-FE29-3A72-A5226E307EB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28" y="1011936"/>
            <a:ext cx="9074511" cy="5211064"/>
          </a:xfrm>
        </p:spPr>
        <p:txBody>
          <a:bodyPr/>
          <a:lstStyle/>
          <a:p>
            <a:r>
              <a:rPr lang="en-US" dirty="0" err="1"/>
              <a:t>Descubrimientos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145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15B29-4E45-6F70-804F-B315516D2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6" y="4531056"/>
            <a:ext cx="6080041" cy="1691943"/>
          </a:xfrm>
        </p:spPr>
        <p:txBody>
          <a:bodyPr/>
          <a:lstStyle/>
          <a:p>
            <a:r>
              <a:rPr lang="en-US" sz="4800" dirty="0" err="1">
                <a:effectLst/>
              </a:rPr>
              <a:t>Descubrimientos</a:t>
            </a:r>
            <a:endParaRPr lang="en-US" sz="5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36F128-E599-E3C5-D992-C9BB682E6D68}"/>
              </a:ext>
            </a:extLst>
          </p:cNvPr>
          <p:cNvSpPr txBox="1"/>
          <p:nvPr/>
        </p:nvSpPr>
        <p:spPr>
          <a:xfrm>
            <a:off x="6980481" y="1023859"/>
            <a:ext cx="2624116" cy="93621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sz="7200" b="1" i="0" u="none" dirty="0">
                <a:solidFill>
                  <a:srgbClr val="DC2626"/>
                </a:solidFill>
                <a:latin typeface="Inter"/>
              </a:rPr>
              <a:t>1.39</a:t>
            </a:r>
            <a:r>
              <a:rPr lang="en-US" sz="7200" b="1" i="0" u="none" dirty="0">
                <a:solidFill>
                  <a:srgbClr val="DC2626"/>
                </a:solidFill>
                <a:latin typeface="Inter"/>
              </a:rPr>
              <a:t>6</a:t>
            </a:r>
            <a:r>
              <a:rPr sz="7200" b="1" i="0" u="none" dirty="0">
                <a:solidFill>
                  <a:srgbClr val="DC2626"/>
                </a:solidFill>
                <a:latin typeface="Inter"/>
              </a:rPr>
              <a:t>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73BF64-65A1-EDD3-F2FE-D09D4674D58A}"/>
              </a:ext>
            </a:extLst>
          </p:cNvPr>
          <p:cNvSpPr txBox="1"/>
          <p:nvPr/>
        </p:nvSpPr>
        <p:spPr>
          <a:xfrm>
            <a:off x="6900882" y="488924"/>
            <a:ext cx="426665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Fuga de Eficiencia: Campaña Saliente</a:t>
            </a:r>
          </a:p>
          <a:p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C9B1C3A-4442-ACD3-2905-365640CA3B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8" y="630937"/>
            <a:ext cx="5326505" cy="3504335"/>
          </a:xfrm>
        </p:spPr>
        <p:txBody>
          <a:bodyPr/>
          <a:lstStyle/>
          <a:p>
            <a:endParaRPr lang="en-US"/>
          </a:p>
        </p:txBody>
      </p:sp>
      <p:pic>
        <p:nvPicPr>
          <p:cNvPr id="9" name="Picture 8" descr="Notificación de campana con burbuja de voz. mensaje de redes sociales ...">
            <a:extLst>
              <a:ext uri="{FF2B5EF4-FFF2-40B4-BE49-F238E27FC236}">
                <a16:creationId xmlns:a16="http://schemas.microsoft.com/office/drawing/2014/main" id="{2B1085D4-CD03-4ADD-5A7F-9BCF99D2B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93" y="526969"/>
            <a:ext cx="5836754" cy="429903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C2D29E5-A776-4344-59DD-94434A6ECB1C}"/>
              </a:ext>
            </a:extLst>
          </p:cNvPr>
          <p:cNvSpPr txBox="1"/>
          <p:nvPr/>
        </p:nvSpPr>
        <p:spPr>
          <a:xfrm>
            <a:off x="7471272" y="3137132"/>
            <a:ext cx="42666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Demanda Operativa: </a:t>
            </a:r>
          </a:p>
          <a:p>
            <a:endParaRPr lang="es-ES" sz="2000" b="1" dirty="0"/>
          </a:p>
          <a:p>
            <a:r>
              <a:rPr lang="es-ES" sz="1600" dirty="0"/>
              <a:t>Mayor volumen de mensajes después del mediodía</a:t>
            </a:r>
            <a:endParaRPr 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1C98D9-7D41-99CD-081D-D16EC15E72CC}"/>
              </a:ext>
            </a:extLst>
          </p:cNvPr>
          <p:cNvSpPr txBox="1"/>
          <p:nvPr/>
        </p:nvSpPr>
        <p:spPr>
          <a:xfrm>
            <a:off x="7471270" y="5963035"/>
            <a:ext cx="41819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Pico de </a:t>
            </a:r>
            <a:r>
              <a:rPr lang="en-US" sz="2000" b="1" dirty="0" err="1"/>
              <a:t>falla</a:t>
            </a:r>
            <a:r>
              <a:rPr lang="en-US" sz="2000" b="1" dirty="0"/>
              <a:t>: </a:t>
            </a:r>
            <a:r>
              <a:rPr lang="en-US" dirty="0"/>
              <a:t>07/29/2023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F01813D-163D-F030-E71C-2BA1A64910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795122" y="4430883"/>
            <a:ext cx="595093" cy="64275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A993CCD-58EF-1A05-9EFB-7419A874B8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95122" y="5834141"/>
            <a:ext cx="595093" cy="529004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26298C60-5689-D36E-57B2-159EFC0685C2}"/>
              </a:ext>
            </a:extLst>
          </p:cNvPr>
          <p:cNvSpPr txBox="1"/>
          <p:nvPr/>
        </p:nvSpPr>
        <p:spPr>
          <a:xfrm>
            <a:off x="6900882" y="1866058"/>
            <a:ext cx="425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Inter"/>
              </a:rPr>
              <a:t>Más del 50% de la campaña no fue exitosa</a:t>
            </a:r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5F9750A-5FF2-345A-3C94-E4B27FAA89A4}"/>
              </a:ext>
            </a:extLst>
          </p:cNvPr>
          <p:cNvSpPr/>
          <p:nvPr/>
        </p:nvSpPr>
        <p:spPr>
          <a:xfrm>
            <a:off x="7011371" y="2252923"/>
            <a:ext cx="3869267" cy="325649"/>
          </a:xfrm>
          <a:prstGeom prst="rect">
            <a:avLst/>
          </a:prstGeom>
          <a:ln w="1905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6089A9D-1F66-074B-D444-B09E462D510B}"/>
              </a:ext>
            </a:extLst>
          </p:cNvPr>
          <p:cNvSpPr txBox="1"/>
          <p:nvPr/>
        </p:nvSpPr>
        <p:spPr>
          <a:xfrm>
            <a:off x="7011371" y="2246733"/>
            <a:ext cx="454660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2">
                    <a:lumMod val="50000"/>
                  </a:schemeClr>
                </a:solidFill>
              </a:rPr>
              <a:t>Causa </a:t>
            </a: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</a:rPr>
              <a:t>Raíz</a:t>
            </a:r>
            <a:r>
              <a:rPr lang="en-US" sz="1600" b="1" dirty="0">
                <a:solidFill>
                  <a:schemeClr val="tx2">
                    <a:lumMod val="50000"/>
                  </a:schemeClr>
                </a:solidFill>
              </a:rPr>
              <a:t>: 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Inter"/>
              </a:rPr>
              <a:t>Discrepancia de </a:t>
            </a:r>
            <a:r>
              <a:rPr lang="en-US" sz="1600" dirty="0" err="1">
                <a:solidFill>
                  <a:schemeClr val="tx2">
                    <a:lumMod val="75000"/>
                  </a:schemeClr>
                </a:solidFill>
                <a:latin typeface="Inter"/>
              </a:rPr>
              <a:t>parámetros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Inter"/>
              </a:rPr>
              <a:t> API </a:t>
            </a:r>
            <a:endParaRPr lang="en-US" sz="1600" b="1" dirty="0">
              <a:solidFill>
                <a:schemeClr val="tx2">
                  <a:lumMod val="7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8122CC-8B8E-2CC2-D814-A124A1EC7154}"/>
              </a:ext>
            </a:extLst>
          </p:cNvPr>
          <p:cNvSpPr txBox="1"/>
          <p:nvPr/>
        </p:nvSpPr>
        <p:spPr>
          <a:xfrm>
            <a:off x="7471271" y="4471827"/>
            <a:ext cx="41819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Latencia</a:t>
            </a:r>
            <a:r>
              <a:rPr lang="en-US" sz="2000" b="1" dirty="0"/>
              <a:t>:</a:t>
            </a:r>
          </a:p>
          <a:p>
            <a:endParaRPr lang="en-US" sz="2000" b="1" dirty="0"/>
          </a:p>
          <a:p>
            <a:r>
              <a:rPr lang="es-ES" sz="1600" dirty="0"/>
              <a:t>132 minutos de tiempo de respuesta promedio</a:t>
            </a:r>
            <a:endParaRPr lang="en-US" sz="16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E16BC705-18CF-C6D0-6605-F341C2927F2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766200" y="3067050"/>
            <a:ext cx="595094" cy="45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891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360D7-F74C-CD9E-C576-1CB8FFE87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748474"/>
            <a:ext cx="7538425" cy="4474526"/>
          </a:xfrm>
        </p:spPr>
        <p:txBody>
          <a:bodyPr/>
          <a:lstStyle/>
          <a:p>
            <a:r>
              <a:rPr lang="es-ES" dirty="0"/>
              <a:t>Escalabilidad (</a:t>
            </a:r>
            <a:r>
              <a:rPr lang="es-ES" dirty="0" err="1"/>
              <a:t>Mindset</a:t>
            </a:r>
            <a:r>
              <a:rPr lang="es-ES" dirty="0"/>
              <a:t> </a:t>
            </a:r>
            <a:r>
              <a:rPr lang="es-ES" dirty="0" err="1"/>
              <a:t>FinOps</a:t>
            </a:r>
            <a:r>
              <a:rPr lang="es-ES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387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10">
            <a:extLst>
              <a:ext uri="{FF2B5EF4-FFF2-40B4-BE49-F238E27FC236}">
                <a16:creationId xmlns:a16="http://schemas.microsoft.com/office/drawing/2014/main" id="{45741EB9-6AC9-A7D3-F995-A8E180874AED}"/>
              </a:ext>
            </a:extLst>
          </p:cNvPr>
          <p:cNvSpPr/>
          <p:nvPr/>
        </p:nvSpPr>
        <p:spPr>
          <a:xfrm>
            <a:off x="8761586" y="2665412"/>
            <a:ext cx="2675185" cy="2476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B66960-6EB7-5543-D7E2-21C56C333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2" y="256647"/>
            <a:ext cx="10923935" cy="1580620"/>
          </a:xfrm>
        </p:spPr>
        <p:txBody>
          <a:bodyPr/>
          <a:lstStyle/>
          <a:p>
            <a:r>
              <a:rPr lang="es-ES" sz="2800" u="none" dirty="0"/>
              <a:t>Estrategia para soportar 50 usuarios concurrentes sin colapsar el servidor transaccional.</a:t>
            </a:r>
            <a:br>
              <a:rPr lang="es-ES" sz="3200" u="none" dirty="0"/>
            </a:br>
            <a:endParaRPr lang="en-US" sz="3200" u="non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48CE04-CEDD-A04A-0439-4136E2D54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142" y="2830798"/>
            <a:ext cx="444214" cy="44421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7F5E259-F5BE-2668-C426-5E1D8A63AB4D}"/>
              </a:ext>
            </a:extLst>
          </p:cNvPr>
          <p:cNvSpPr/>
          <p:nvPr/>
        </p:nvSpPr>
        <p:spPr>
          <a:xfrm>
            <a:off x="3596357" y="4022725"/>
            <a:ext cx="100965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F653AA-AFE5-D32B-5432-D19461EBFA0C}"/>
              </a:ext>
            </a:extLst>
          </p:cNvPr>
          <p:cNvSpPr/>
          <p:nvPr/>
        </p:nvSpPr>
        <p:spPr>
          <a:xfrm>
            <a:off x="7585993" y="4122737"/>
            <a:ext cx="1023193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929CA0-4027-94C6-BFE0-13491BF3B033}"/>
              </a:ext>
            </a:extLst>
          </p:cNvPr>
          <p:cNvSpPr txBox="1"/>
          <p:nvPr/>
        </p:nvSpPr>
        <p:spPr>
          <a:xfrm>
            <a:off x="3596357" y="3746500"/>
            <a:ext cx="864019" cy="1894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 dirty="0" err="1">
                <a:latin typeface="Inter"/>
              </a:rPr>
              <a:t>Materialización</a:t>
            </a:r>
            <a:endParaRPr sz="1050" b="1" i="0" u="none" dirty="0">
              <a:latin typeface="Inte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617C1D-790A-C832-CE05-12CC6D7A23AA}"/>
              </a:ext>
            </a:extLst>
          </p:cNvPr>
          <p:cNvSpPr txBox="1"/>
          <p:nvPr/>
        </p:nvSpPr>
        <p:spPr>
          <a:xfrm>
            <a:off x="7585993" y="3646487"/>
            <a:ext cx="1118443" cy="1894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 dirty="0">
                <a:latin typeface="Inter"/>
              </a:rPr>
              <a:t>Modo </a:t>
            </a:r>
            <a:r>
              <a:rPr sz="1050" b="1" i="0" u="none" dirty="0" err="1">
                <a:latin typeface="Inter"/>
              </a:rPr>
              <a:t>Importación</a:t>
            </a:r>
            <a:endParaRPr sz="1050" b="1" i="0" u="none" dirty="0">
              <a:latin typeface="Inter"/>
            </a:endParaRPr>
          </a:p>
        </p:txBody>
      </p:sp>
      <p:sp>
        <p:nvSpPr>
          <p:cNvPr id="23" name="Rounded Rectangle 8">
            <a:extLst>
              <a:ext uri="{FF2B5EF4-FFF2-40B4-BE49-F238E27FC236}">
                <a16:creationId xmlns:a16="http://schemas.microsoft.com/office/drawing/2014/main" id="{556BCB5A-159F-BE36-6DBC-681C08631107}"/>
              </a:ext>
            </a:extLst>
          </p:cNvPr>
          <p:cNvSpPr/>
          <p:nvPr/>
        </p:nvSpPr>
        <p:spPr>
          <a:xfrm>
            <a:off x="768772" y="2760662"/>
            <a:ext cx="2675185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9">
            <a:extLst>
              <a:ext uri="{FF2B5EF4-FFF2-40B4-BE49-F238E27FC236}">
                <a16:creationId xmlns:a16="http://schemas.microsoft.com/office/drawing/2014/main" id="{1FDD4A9E-2472-6A6C-4CA0-8DE1ECACD585}"/>
              </a:ext>
            </a:extLst>
          </p:cNvPr>
          <p:cNvSpPr/>
          <p:nvPr/>
        </p:nvSpPr>
        <p:spPr>
          <a:xfrm>
            <a:off x="4758407" y="2665412"/>
            <a:ext cx="2675185" cy="2476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A0EA118-1532-3517-67CB-5A2A52AB2605}"/>
              </a:ext>
            </a:extLst>
          </p:cNvPr>
          <p:cNvSpPr/>
          <p:nvPr/>
        </p:nvSpPr>
        <p:spPr>
          <a:xfrm>
            <a:off x="768772" y="5037137"/>
            <a:ext cx="26751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65B4BFB-69A7-C6A2-A974-9139D5FD2B36}"/>
              </a:ext>
            </a:extLst>
          </p:cNvPr>
          <p:cNvSpPr/>
          <p:nvPr/>
        </p:nvSpPr>
        <p:spPr>
          <a:xfrm>
            <a:off x="768772" y="2760662"/>
            <a:ext cx="2675185" cy="57150"/>
          </a:xfrm>
          <a:prstGeom prst="rect">
            <a:avLst/>
          </a:prstGeom>
          <a:solidFill>
            <a:srgbClr val="336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49A5972-EDDC-9D91-82B2-875D33100AD6}"/>
              </a:ext>
            </a:extLst>
          </p:cNvPr>
          <p:cNvSpPr/>
          <p:nvPr/>
        </p:nvSpPr>
        <p:spPr>
          <a:xfrm>
            <a:off x="768772" y="2760662"/>
            <a:ext cx="9525" cy="2286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ED1AAED-A59F-5935-8762-14898E693AA3}"/>
              </a:ext>
            </a:extLst>
          </p:cNvPr>
          <p:cNvSpPr/>
          <p:nvPr/>
        </p:nvSpPr>
        <p:spPr>
          <a:xfrm>
            <a:off x="3434432" y="2760662"/>
            <a:ext cx="9525" cy="2286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ADFA148-E787-9331-8CC1-7B531005EBCC}"/>
              </a:ext>
            </a:extLst>
          </p:cNvPr>
          <p:cNvSpPr/>
          <p:nvPr/>
        </p:nvSpPr>
        <p:spPr>
          <a:xfrm>
            <a:off x="4758407" y="5132387"/>
            <a:ext cx="26751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1FC5636-7067-3825-8EA3-1E0C704E461A}"/>
              </a:ext>
            </a:extLst>
          </p:cNvPr>
          <p:cNvSpPr/>
          <p:nvPr/>
        </p:nvSpPr>
        <p:spPr>
          <a:xfrm>
            <a:off x="4758407" y="2665412"/>
            <a:ext cx="267518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8EFD2C7-9DA0-6D70-63FC-ADEDD0B90DED}"/>
              </a:ext>
            </a:extLst>
          </p:cNvPr>
          <p:cNvSpPr/>
          <p:nvPr/>
        </p:nvSpPr>
        <p:spPr>
          <a:xfrm>
            <a:off x="4758407" y="2665412"/>
            <a:ext cx="9525" cy="2476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963B2DC-FDE6-1EEE-6675-BE2CDCC95295}"/>
              </a:ext>
            </a:extLst>
          </p:cNvPr>
          <p:cNvSpPr/>
          <p:nvPr/>
        </p:nvSpPr>
        <p:spPr>
          <a:xfrm>
            <a:off x="7424068" y="2665412"/>
            <a:ext cx="9525" cy="2476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ED62C70-0F18-378D-D2E9-9DE73AE547B3}"/>
              </a:ext>
            </a:extLst>
          </p:cNvPr>
          <p:cNvSpPr/>
          <p:nvPr/>
        </p:nvSpPr>
        <p:spPr>
          <a:xfrm>
            <a:off x="8761586" y="5132387"/>
            <a:ext cx="26751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7EFEE74-5291-08AE-AB3B-870226D51C8E}"/>
              </a:ext>
            </a:extLst>
          </p:cNvPr>
          <p:cNvSpPr/>
          <p:nvPr/>
        </p:nvSpPr>
        <p:spPr>
          <a:xfrm>
            <a:off x="8761586" y="2665412"/>
            <a:ext cx="2675185" cy="5715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AB00ED7-42B4-30EA-D65B-A8CB447BB98D}"/>
              </a:ext>
            </a:extLst>
          </p:cNvPr>
          <p:cNvSpPr/>
          <p:nvPr/>
        </p:nvSpPr>
        <p:spPr>
          <a:xfrm>
            <a:off x="8761586" y="2665412"/>
            <a:ext cx="9525" cy="2476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773BB07-7EC0-BE33-5475-3C97B543E9B2}"/>
              </a:ext>
            </a:extLst>
          </p:cNvPr>
          <p:cNvSpPr/>
          <p:nvPr/>
        </p:nvSpPr>
        <p:spPr>
          <a:xfrm>
            <a:off x="11427247" y="2665412"/>
            <a:ext cx="9525" cy="2476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3" name="Picture 52" descr="image.png">
            <a:extLst>
              <a:ext uri="{FF2B5EF4-FFF2-40B4-BE49-F238E27FC236}">
                <a16:creationId xmlns:a16="http://schemas.microsoft.com/office/drawing/2014/main" id="{7AF3FFE0-55AF-FE42-F401-5E3A2B295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097" y="3122612"/>
            <a:ext cx="266700" cy="304800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2C06D30C-03B4-D997-91AB-30AF54695EAB}"/>
              </a:ext>
            </a:extLst>
          </p:cNvPr>
          <p:cNvSpPr txBox="1"/>
          <p:nvPr/>
        </p:nvSpPr>
        <p:spPr>
          <a:xfrm>
            <a:off x="1083097" y="3579812"/>
            <a:ext cx="255816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 dirty="0">
                <a:solidFill>
                  <a:srgbClr val="64748B"/>
                </a:solidFill>
                <a:latin typeface="Inter"/>
              </a:rPr>
              <a:t>CAPA TRANSACCIONAL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E7BD756-282E-42EC-A9A5-E9F4EB4D91C3}"/>
              </a:ext>
            </a:extLst>
          </p:cNvPr>
          <p:cNvSpPr txBox="1"/>
          <p:nvPr/>
        </p:nvSpPr>
        <p:spPr>
          <a:xfrm>
            <a:off x="5072732" y="3484562"/>
            <a:ext cx="255816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64748B"/>
                </a:solidFill>
                <a:latin typeface="Inter"/>
              </a:rPr>
              <a:t>CAPA INTERMEDIA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3FE1909-AD29-A999-9803-6CD951A51721}"/>
              </a:ext>
            </a:extLst>
          </p:cNvPr>
          <p:cNvSpPr txBox="1"/>
          <p:nvPr/>
        </p:nvSpPr>
        <p:spPr>
          <a:xfrm>
            <a:off x="9075911" y="3484562"/>
            <a:ext cx="255816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64748B"/>
                </a:solidFill>
                <a:latin typeface="Inter"/>
              </a:rPr>
              <a:t>CAPA DE CONSUMO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81440C9-06A5-7E40-F270-FE327B30EE45}"/>
              </a:ext>
            </a:extLst>
          </p:cNvPr>
          <p:cNvSpPr txBox="1"/>
          <p:nvPr/>
        </p:nvSpPr>
        <p:spPr>
          <a:xfrm>
            <a:off x="1502197" y="3136900"/>
            <a:ext cx="1750218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PostgreSQL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EF511FA-00CE-D106-2E4D-61199B816688}"/>
              </a:ext>
            </a:extLst>
          </p:cNvPr>
          <p:cNvSpPr txBox="1"/>
          <p:nvPr/>
        </p:nvSpPr>
        <p:spPr>
          <a:xfrm>
            <a:off x="867408" y="3965575"/>
            <a:ext cx="2558169" cy="190500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475569"/>
                </a:solidFill>
                <a:latin typeface="Inter"/>
              </a:rPr>
              <a:t>Datos crudos </a:t>
            </a:r>
            <a:r>
              <a:rPr sz="1200" b="0" i="0" u="none" dirty="0" err="1">
                <a:solidFill>
                  <a:srgbClr val="475569"/>
                </a:solidFill>
                <a:latin typeface="Inter"/>
              </a:rPr>
              <a:t>en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 vivo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2195267-0EB8-DA51-A349-04AF36830436}"/>
              </a:ext>
            </a:extLst>
          </p:cNvPr>
          <p:cNvSpPr txBox="1"/>
          <p:nvPr/>
        </p:nvSpPr>
        <p:spPr>
          <a:xfrm>
            <a:off x="847688" y="4285719"/>
            <a:ext cx="2558169" cy="190500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200" b="0" i="0" u="none" dirty="0" err="1">
                <a:solidFill>
                  <a:srgbClr val="475569"/>
                </a:solidFill>
                <a:latin typeface="Inter"/>
              </a:rPr>
              <a:t>Cálculo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475569"/>
                </a:solidFill>
                <a:latin typeface="Inter"/>
              </a:rPr>
              <a:t>pesado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 de SLA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CD1E2D9-F4FD-AA50-F601-047A238D06A8}"/>
              </a:ext>
            </a:extLst>
          </p:cNvPr>
          <p:cNvSpPr txBox="1"/>
          <p:nvPr/>
        </p:nvSpPr>
        <p:spPr>
          <a:xfrm>
            <a:off x="891830" y="4610899"/>
            <a:ext cx="2085403" cy="184666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/>
            <a:r>
              <a:rPr sz="1200" b="0" i="0" u="none" dirty="0" err="1">
                <a:solidFill>
                  <a:srgbClr val="475569"/>
                </a:solidFill>
                <a:latin typeface="Inter"/>
              </a:rPr>
              <a:t>Ejecución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200" dirty="0" err="1">
                <a:solidFill>
                  <a:srgbClr val="475569"/>
                </a:solidFill>
                <a:latin typeface="Inter"/>
              </a:rPr>
              <a:t>cada</a:t>
            </a:r>
            <a:r>
              <a:rPr lang="en-US" sz="1200" dirty="0">
                <a:solidFill>
                  <a:srgbClr val="475569"/>
                </a:solidFill>
                <a:latin typeface="Inter"/>
              </a:rPr>
              <a:t> 4 horas</a:t>
            </a:r>
            <a:endParaRPr sz="1200" b="0" i="0" u="none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E34D78D-12C9-AC7A-B598-97E767205B89}"/>
              </a:ext>
            </a:extLst>
          </p:cNvPr>
          <p:cNvSpPr txBox="1"/>
          <p:nvPr/>
        </p:nvSpPr>
        <p:spPr>
          <a:xfrm>
            <a:off x="5529932" y="3041650"/>
            <a:ext cx="2025253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Vista Estática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0E9BDCE-6AA9-E6CC-320D-54CDDB678441}"/>
              </a:ext>
            </a:extLst>
          </p:cNvPr>
          <p:cNvSpPr txBox="1"/>
          <p:nvPr/>
        </p:nvSpPr>
        <p:spPr>
          <a:xfrm>
            <a:off x="4866898" y="3841205"/>
            <a:ext cx="2558169" cy="190500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475569"/>
                </a:solidFill>
                <a:latin typeface="Inter"/>
              </a:rPr>
              <a:t>Lectura </a:t>
            </a:r>
            <a:r>
              <a:rPr sz="1200" b="0" i="0" u="none" dirty="0" err="1">
                <a:solidFill>
                  <a:srgbClr val="475569"/>
                </a:solidFill>
                <a:latin typeface="Inter"/>
              </a:rPr>
              <a:t>inmediata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 O(1)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D26E821-59E2-9C70-8287-C0272DB0A736}"/>
              </a:ext>
            </a:extLst>
          </p:cNvPr>
          <p:cNvSpPr txBox="1"/>
          <p:nvPr/>
        </p:nvSpPr>
        <p:spPr>
          <a:xfrm>
            <a:off x="4848133" y="4190469"/>
            <a:ext cx="2558169" cy="190500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475569"/>
                </a:solidFill>
                <a:latin typeface="Inter"/>
              </a:rPr>
              <a:t>Escudo anti-</a:t>
            </a:r>
            <a:r>
              <a:rPr sz="1200" b="0" i="0" u="none" dirty="0" err="1">
                <a:solidFill>
                  <a:srgbClr val="475569"/>
                </a:solidFill>
                <a:latin typeface="Inter"/>
              </a:rPr>
              <a:t>colapso</a:t>
            </a:r>
            <a:endParaRPr sz="1200" b="0" i="0" u="none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EDF8E1C-623A-A9F8-5B53-AA914989CEAD}"/>
              </a:ext>
            </a:extLst>
          </p:cNvPr>
          <p:cNvSpPr txBox="1"/>
          <p:nvPr/>
        </p:nvSpPr>
        <p:spPr>
          <a:xfrm>
            <a:off x="9533111" y="3041650"/>
            <a:ext cx="1340167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Power BI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A014860-1D64-B530-45AE-B84FFDFB6D53}"/>
              </a:ext>
            </a:extLst>
          </p:cNvPr>
          <p:cNvSpPr txBox="1"/>
          <p:nvPr/>
        </p:nvSpPr>
        <p:spPr>
          <a:xfrm>
            <a:off x="8771111" y="3912640"/>
            <a:ext cx="2132260" cy="184666"/>
          </a:xfrm>
          <a:prstGeom prst="rect">
            <a:avLst/>
          </a:prstGeom>
          <a:noFill/>
        </p:spPr>
        <p:txBody>
          <a:bodyPr wrap="square" lIns="30480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475569"/>
                </a:solidFill>
                <a:latin typeface="Inter"/>
              </a:rPr>
              <a:t>50 </a:t>
            </a:r>
            <a:r>
              <a:rPr sz="1200" b="0" i="0" u="none" dirty="0" err="1">
                <a:solidFill>
                  <a:srgbClr val="475569"/>
                </a:solidFill>
                <a:latin typeface="Inter"/>
              </a:rPr>
              <a:t>Usuarios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475569"/>
                </a:solidFill>
                <a:latin typeface="Inter"/>
              </a:rPr>
              <a:t>simultáneos</a:t>
            </a:r>
            <a:endParaRPr sz="1200" b="0" i="0" u="none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C2B9DC8-FE18-7B3F-ADF7-334B68B380DE}"/>
              </a:ext>
            </a:extLst>
          </p:cNvPr>
          <p:cNvSpPr txBox="1"/>
          <p:nvPr/>
        </p:nvSpPr>
        <p:spPr>
          <a:xfrm>
            <a:off x="8828261" y="4329142"/>
            <a:ext cx="2710569" cy="184666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475569"/>
                </a:solidFill>
                <a:latin typeface="Inter"/>
              </a:rPr>
              <a:t>Carga </a:t>
            </a:r>
            <a:r>
              <a:rPr sz="1200" b="0" i="0" u="none" dirty="0" err="1">
                <a:solidFill>
                  <a:srgbClr val="475569"/>
                </a:solidFill>
                <a:latin typeface="Inter"/>
              </a:rPr>
              <a:t>Servidor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 BD: 0%</a:t>
            </a:r>
          </a:p>
        </p:txBody>
      </p:sp>
    </p:spTree>
    <p:extLst>
      <p:ext uri="{BB962C8B-B14F-4D97-AF65-F5344CB8AC3E}">
        <p14:creationId xmlns:p14="http://schemas.microsoft.com/office/powerpoint/2010/main" val="2123826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F6B75-DDDD-1F02-7871-0E6734DE1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C9032-53E1-5575-624A-23D4FA78B2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748474"/>
            <a:ext cx="7538425" cy="4474526"/>
          </a:xfrm>
        </p:spPr>
        <p:txBody>
          <a:bodyPr/>
          <a:lstStyle/>
          <a:p>
            <a:r>
              <a:rPr lang="es-ES" dirty="0"/>
              <a:t>Gracias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540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AE204-A88F-7841-3B5D-E649824D5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/>
              <a:t>Priorización</a:t>
            </a:r>
            <a:r>
              <a:rPr lang="en-US" sz="4000" dirty="0"/>
              <a:t> </a:t>
            </a:r>
            <a:r>
              <a:rPr lang="en-US" sz="4000" dirty="0" err="1"/>
              <a:t>por</a:t>
            </a:r>
            <a:r>
              <a:rPr lang="en-US" sz="4000" dirty="0"/>
              <a:t> </a:t>
            </a:r>
            <a:r>
              <a:rPr lang="en-US" sz="4000" dirty="0" err="1"/>
              <a:t>Intención</a:t>
            </a:r>
            <a:r>
              <a:rPr lang="en-US" sz="4000" dirty="0"/>
              <a:t> (NLP)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8186346-DECC-72B0-BA9E-B1A65BA54522}"/>
              </a:ext>
            </a:extLst>
          </p:cNvPr>
          <p:cNvSpPr/>
          <p:nvPr/>
        </p:nvSpPr>
        <p:spPr>
          <a:xfrm>
            <a:off x="7772400" y="897467"/>
            <a:ext cx="3785573" cy="1594378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8A1DFF-9E30-E6DA-13F4-0553DA8C06E6}"/>
              </a:ext>
            </a:extLst>
          </p:cNvPr>
          <p:cNvSpPr txBox="1"/>
          <p:nvPr/>
        </p:nvSpPr>
        <p:spPr>
          <a:xfrm>
            <a:off x="9038166" y="966801"/>
            <a:ext cx="1617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  <a:latin typeface="Aptos Black" panose="020B0004020202020204" pitchFamily="34" charset="0"/>
                <a:cs typeface="Aharoni" panose="02010803020104030203" pitchFamily="2" charset="-79"/>
              </a:rPr>
              <a:t>Pedidos</a:t>
            </a:r>
            <a:endParaRPr lang="en-US" b="1" dirty="0">
              <a:solidFill>
                <a:schemeClr val="bg1"/>
              </a:solidFill>
              <a:latin typeface="Aptos Black" panose="020B0004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812263C-3582-88B7-71E9-57B7DB12D50A}"/>
              </a:ext>
            </a:extLst>
          </p:cNvPr>
          <p:cNvSpPr txBox="1"/>
          <p:nvPr/>
        </p:nvSpPr>
        <p:spPr>
          <a:xfrm>
            <a:off x="7871784" y="1806729"/>
            <a:ext cx="3583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>
                <a:solidFill>
                  <a:schemeClr val="bg1"/>
                </a:solidFill>
              </a:rPr>
              <a:t>Intenci</a:t>
            </a:r>
            <a:r>
              <a:rPr lang="es-CO" b="1" i="1" dirty="0" err="1">
                <a:solidFill>
                  <a:schemeClr val="bg1"/>
                </a:solidFill>
              </a:rPr>
              <a:t>ón</a:t>
            </a:r>
            <a:r>
              <a:rPr lang="es-CO" b="1" i="1" dirty="0">
                <a:solidFill>
                  <a:schemeClr val="bg1"/>
                </a:solidFill>
              </a:rPr>
              <a:t> de compra directa</a:t>
            </a:r>
          </a:p>
          <a:p>
            <a:r>
              <a:rPr lang="es-CO" b="1" dirty="0">
                <a:solidFill>
                  <a:schemeClr val="bg1"/>
                </a:solidFill>
              </a:rPr>
              <a:t>Acción</a:t>
            </a:r>
            <a:r>
              <a:rPr lang="en-US" b="1" dirty="0">
                <a:solidFill>
                  <a:schemeClr val="bg1"/>
                </a:solidFill>
              </a:rPr>
              <a:t>:</a:t>
            </a:r>
            <a:r>
              <a:rPr lang="es-CO" b="1" dirty="0">
                <a:solidFill>
                  <a:schemeClr val="bg1"/>
                </a:solidFill>
              </a:rPr>
              <a:t> Prioridad 1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08D89DC-1459-4B5F-6935-35B3EF9E04AA}"/>
              </a:ext>
            </a:extLst>
          </p:cNvPr>
          <p:cNvSpPr txBox="1"/>
          <p:nvPr/>
        </p:nvSpPr>
        <p:spPr>
          <a:xfrm>
            <a:off x="9109025" y="1351466"/>
            <a:ext cx="881639" cy="523220"/>
          </a:xfrm>
          <a:prstGeom prst="rect">
            <a:avLst/>
          </a:prstGeom>
          <a:noFill/>
          <a:ln w="19050">
            <a:solidFill>
              <a:schemeClr val="bg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2">
                    <a:lumMod val="50000"/>
                    <a:lumOff val="50000"/>
                  </a:schemeClr>
                </a:solidFill>
              </a:rPr>
              <a:t>68</a:t>
            </a:r>
            <a:endParaRPr lang="en-US" dirty="0">
              <a:solidFill>
                <a:schemeClr val="bg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1875269-DDA0-DE55-E6A9-195736337CCC}"/>
              </a:ext>
            </a:extLst>
          </p:cNvPr>
          <p:cNvSpPr/>
          <p:nvPr/>
        </p:nvSpPr>
        <p:spPr>
          <a:xfrm>
            <a:off x="7772400" y="2861177"/>
            <a:ext cx="3785573" cy="1594378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ED8A408-DD50-D663-15E8-3CCCD3E2E8B2}"/>
              </a:ext>
            </a:extLst>
          </p:cNvPr>
          <p:cNvSpPr txBox="1"/>
          <p:nvPr/>
        </p:nvSpPr>
        <p:spPr>
          <a:xfrm>
            <a:off x="9038166" y="2930511"/>
            <a:ext cx="1617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  <a:latin typeface="Aptos Black" panose="020B0004020202020204" pitchFamily="34" charset="0"/>
                <a:cs typeface="Aharoni" panose="02010803020104030203" pitchFamily="2" charset="-79"/>
              </a:rPr>
              <a:t>Quejas</a:t>
            </a:r>
            <a:endParaRPr lang="en-US" b="1" dirty="0">
              <a:solidFill>
                <a:schemeClr val="bg1"/>
              </a:solidFill>
              <a:latin typeface="Aptos Black" panose="020B0004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0A5CC2A-CFA3-DDA3-34D5-2BCB567ECC61}"/>
              </a:ext>
            </a:extLst>
          </p:cNvPr>
          <p:cNvSpPr txBox="1"/>
          <p:nvPr/>
        </p:nvSpPr>
        <p:spPr>
          <a:xfrm>
            <a:off x="7871784" y="3770439"/>
            <a:ext cx="3583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>
                <a:solidFill>
                  <a:schemeClr val="bg1"/>
                </a:solidFill>
              </a:rPr>
              <a:t>Intenci</a:t>
            </a:r>
            <a:r>
              <a:rPr lang="es-CO" b="1" i="1" dirty="0" err="1">
                <a:solidFill>
                  <a:schemeClr val="bg1"/>
                </a:solidFill>
              </a:rPr>
              <a:t>ón</a:t>
            </a:r>
            <a:r>
              <a:rPr lang="es-CO" b="1" i="1" dirty="0">
                <a:solidFill>
                  <a:schemeClr val="bg1"/>
                </a:solidFill>
              </a:rPr>
              <a:t> de compra directa</a:t>
            </a:r>
          </a:p>
          <a:p>
            <a:r>
              <a:rPr lang="es-CO" b="1" dirty="0">
                <a:solidFill>
                  <a:schemeClr val="bg1"/>
                </a:solidFill>
              </a:rPr>
              <a:t>Acción</a:t>
            </a:r>
            <a:r>
              <a:rPr lang="en-US" b="1" dirty="0">
                <a:solidFill>
                  <a:schemeClr val="bg1"/>
                </a:solidFill>
              </a:rPr>
              <a:t>:</a:t>
            </a:r>
            <a:r>
              <a:rPr lang="es-CO" b="1" dirty="0">
                <a:solidFill>
                  <a:schemeClr val="bg1"/>
                </a:solidFill>
              </a:rPr>
              <a:t> Prioridad 1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8C72016-1F35-FAC9-688E-7FCFC1E0DEB4}"/>
              </a:ext>
            </a:extLst>
          </p:cNvPr>
          <p:cNvSpPr txBox="1"/>
          <p:nvPr/>
        </p:nvSpPr>
        <p:spPr>
          <a:xfrm>
            <a:off x="9109025" y="3307529"/>
            <a:ext cx="864707" cy="523220"/>
          </a:xfrm>
          <a:prstGeom prst="rect">
            <a:avLst/>
          </a:prstGeom>
          <a:noFill/>
          <a:ln w="19050">
            <a:solidFill>
              <a:schemeClr val="bg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2">
                    <a:lumMod val="50000"/>
                    <a:lumOff val="50000"/>
                  </a:schemeClr>
                </a:solidFill>
              </a:rPr>
              <a:t>15</a:t>
            </a:r>
            <a:endParaRPr lang="en-US" dirty="0">
              <a:solidFill>
                <a:schemeClr val="bg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DEC1E1E-417F-DF8B-FB7A-A5E9A9AAF183}"/>
              </a:ext>
            </a:extLst>
          </p:cNvPr>
          <p:cNvSpPr/>
          <p:nvPr/>
        </p:nvSpPr>
        <p:spPr>
          <a:xfrm>
            <a:off x="7772400" y="4824887"/>
            <a:ext cx="3785573" cy="1594378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A2CBC78-8E87-D49F-5333-F7134ECC09BB}"/>
              </a:ext>
            </a:extLst>
          </p:cNvPr>
          <p:cNvSpPr txBox="1"/>
          <p:nvPr/>
        </p:nvSpPr>
        <p:spPr>
          <a:xfrm>
            <a:off x="9038166" y="4894221"/>
            <a:ext cx="1617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ptos Black" panose="020B0004020202020204" pitchFamily="34" charset="0"/>
                <a:cs typeface="Aharoni" panose="02010803020104030203" pitchFamily="2" charset="-79"/>
              </a:rPr>
              <a:t>General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054A4BC-06FB-FD42-9C8B-28C09D6D0095}"/>
              </a:ext>
            </a:extLst>
          </p:cNvPr>
          <p:cNvSpPr txBox="1"/>
          <p:nvPr/>
        </p:nvSpPr>
        <p:spPr>
          <a:xfrm>
            <a:off x="7871784" y="5734149"/>
            <a:ext cx="3583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>
                <a:solidFill>
                  <a:schemeClr val="bg1"/>
                </a:solidFill>
              </a:rPr>
              <a:t>Intenci</a:t>
            </a:r>
            <a:r>
              <a:rPr lang="es-CO" b="1" i="1" dirty="0" err="1">
                <a:solidFill>
                  <a:schemeClr val="bg1"/>
                </a:solidFill>
              </a:rPr>
              <a:t>ón</a:t>
            </a:r>
            <a:r>
              <a:rPr lang="es-CO" b="1" i="1" dirty="0">
                <a:solidFill>
                  <a:schemeClr val="bg1"/>
                </a:solidFill>
              </a:rPr>
              <a:t> de compra directa</a:t>
            </a:r>
          </a:p>
          <a:p>
            <a:r>
              <a:rPr lang="es-CO" b="1" dirty="0">
                <a:solidFill>
                  <a:schemeClr val="bg1"/>
                </a:solidFill>
              </a:rPr>
              <a:t>Acción</a:t>
            </a:r>
            <a:r>
              <a:rPr lang="en-US" b="1" dirty="0">
                <a:solidFill>
                  <a:schemeClr val="bg1"/>
                </a:solidFill>
              </a:rPr>
              <a:t>:</a:t>
            </a:r>
            <a:r>
              <a:rPr lang="es-CO" b="1" dirty="0">
                <a:solidFill>
                  <a:schemeClr val="bg1"/>
                </a:solidFill>
              </a:rPr>
              <a:t> Prioridad 1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D521991-C999-DE08-39D3-052AFEDCA4B6}"/>
              </a:ext>
            </a:extLst>
          </p:cNvPr>
          <p:cNvSpPr txBox="1"/>
          <p:nvPr/>
        </p:nvSpPr>
        <p:spPr>
          <a:xfrm>
            <a:off x="9109025" y="5263553"/>
            <a:ext cx="881641" cy="523220"/>
          </a:xfrm>
          <a:prstGeom prst="rect">
            <a:avLst/>
          </a:prstGeom>
          <a:noFill/>
          <a:ln w="19050">
            <a:solidFill>
              <a:schemeClr val="bg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2">
                    <a:lumMod val="50000"/>
                    <a:lumOff val="50000"/>
                  </a:schemeClr>
                </a:solidFill>
              </a:rPr>
              <a:t>275</a:t>
            </a:r>
            <a:endParaRPr lang="en-US" dirty="0">
              <a:solidFill>
                <a:schemeClr val="bg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Rounded Rectangle 2">
            <a:extLst>
              <a:ext uri="{FF2B5EF4-FFF2-40B4-BE49-F238E27FC236}">
                <a16:creationId xmlns:a16="http://schemas.microsoft.com/office/drawing/2014/main" id="{40C6A1F4-5F35-37E0-27C4-38303AB4ABCC}"/>
              </a:ext>
            </a:extLst>
          </p:cNvPr>
          <p:cNvSpPr/>
          <p:nvPr/>
        </p:nvSpPr>
        <p:spPr>
          <a:xfrm>
            <a:off x="-10079" y="1338905"/>
            <a:ext cx="3403550" cy="167640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3">
            <a:extLst>
              <a:ext uri="{FF2B5EF4-FFF2-40B4-BE49-F238E27FC236}">
                <a16:creationId xmlns:a16="http://schemas.microsoft.com/office/drawing/2014/main" id="{E5E2770A-D1D5-BBD5-2D03-B703FEDAE7D8}"/>
              </a:ext>
            </a:extLst>
          </p:cNvPr>
          <p:cNvSpPr/>
          <p:nvPr/>
        </p:nvSpPr>
        <p:spPr>
          <a:xfrm>
            <a:off x="3622071" y="1338905"/>
            <a:ext cx="3403550" cy="167640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B064A19-6170-A789-2F55-8F49979320FC}"/>
              </a:ext>
            </a:extLst>
          </p:cNvPr>
          <p:cNvSpPr/>
          <p:nvPr/>
        </p:nvSpPr>
        <p:spPr>
          <a:xfrm>
            <a:off x="-248204" y="1338905"/>
            <a:ext cx="9525" cy="1676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C31B3E3-141A-8FF5-9209-D1E899BCBC18}"/>
              </a:ext>
            </a:extLst>
          </p:cNvPr>
          <p:cNvSpPr/>
          <p:nvPr/>
        </p:nvSpPr>
        <p:spPr>
          <a:xfrm>
            <a:off x="-10079" y="3005780"/>
            <a:ext cx="34035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C297302-FC8F-DB10-FC5F-F3E1E7D17A05}"/>
              </a:ext>
            </a:extLst>
          </p:cNvPr>
          <p:cNvSpPr/>
          <p:nvPr/>
        </p:nvSpPr>
        <p:spPr>
          <a:xfrm>
            <a:off x="-10079" y="1338905"/>
            <a:ext cx="340355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38C6792-C1A0-0A7D-3DE1-766FC790F344}"/>
              </a:ext>
            </a:extLst>
          </p:cNvPr>
          <p:cNvSpPr/>
          <p:nvPr/>
        </p:nvSpPr>
        <p:spPr>
          <a:xfrm>
            <a:off x="-10079" y="1338905"/>
            <a:ext cx="9525" cy="1676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13C3B85-6865-72DB-85A2-02E45C6843A4}"/>
              </a:ext>
            </a:extLst>
          </p:cNvPr>
          <p:cNvSpPr/>
          <p:nvPr/>
        </p:nvSpPr>
        <p:spPr>
          <a:xfrm>
            <a:off x="3383946" y="1338905"/>
            <a:ext cx="9525" cy="1676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37D2DEF-8BFD-8DA1-4B6A-ABB3B3C0D111}"/>
              </a:ext>
            </a:extLst>
          </p:cNvPr>
          <p:cNvSpPr/>
          <p:nvPr/>
        </p:nvSpPr>
        <p:spPr>
          <a:xfrm>
            <a:off x="3622071" y="3005780"/>
            <a:ext cx="34035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053228E-1389-E7E0-243B-4DDDC8F86EF6}"/>
              </a:ext>
            </a:extLst>
          </p:cNvPr>
          <p:cNvSpPr/>
          <p:nvPr/>
        </p:nvSpPr>
        <p:spPr>
          <a:xfrm>
            <a:off x="3622071" y="1338905"/>
            <a:ext cx="340355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E4BDB5A-442E-D5F2-D96C-1F8CDBCBF5D3}"/>
              </a:ext>
            </a:extLst>
          </p:cNvPr>
          <p:cNvSpPr/>
          <p:nvPr/>
        </p:nvSpPr>
        <p:spPr>
          <a:xfrm>
            <a:off x="3622071" y="1338905"/>
            <a:ext cx="9525" cy="1676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9B4AD16-034A-32C1-99E8-FC342CB18764}"/>
              </a:ext>
            </a:extLst>
          </p:cNvPr>
          <p:cNvSpPr/>
          <p:nvPr/>
        </p:nvSpPr>
        <p:spPr>
          <a:xfrm>
            <a:off x="7016097" y="1338905"/>
            <a:ext cx="9525" cy="1676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4" name="Picture 83" descr="image.png">
            <a:extLst>
              <a:ext uri="{FF2B5EF4-FFF2-40B4-BE49-F238E27FC236}">
                <a16:creationId xmlns:a16="http://schemas.microsoft.com/office/drawing/2014/main" id="{4F815D5D-355C-258C-3D97-42AB17EC2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246" y="1700855"/>
            <a:ext cx="228600" cy="228600"/>
          </a:xfrm>
          <a:prstGeom prst="rect">
            <a:avLst/>
          </a:prstGeom>
        </p:spPr>
      </p:pic>
      <p:pic>
        <p:nvPicPr>
          <p:cNvPr id="86" name="Picture 85" descr="image.png">
            <a:extLst>
              <a:ext uri="{FF2B5EF4-FFF2-40B4-BE49-F238E27FC236}">
                <a16:creationId xmlns:a16="http://schemas.microsoft.com/office/drawing/2014/main" id="{93D27EC8-D525-21C6-34E0-6C25FCC5E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6396" y="1700855"/>
            <a:ext cx="228600" cy="228600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4C40A392-09AD-14ED-0FB2-EBA45DDB325E}"/>
              </a:ext>
            </a:extLst>
          </p:cNvPr>
          <p:cNvSpPr txBox="1"/>
          <p:nvPr/>
        </p:nvSpPr>
        <p:spPr>
          <a:xfrm>
            <a:off x="304246" y="1681805"/>
            <a:ext cx="3642056" cy="276225"/>
          </a:xfrm>
          <a:prstGeom prst="rect">
            <a:avLst/>
          </a:prstGeom>
          <a:noFill/>
        </p:spPr>
        <p:txBody>
          <a:bodyPr wrap="none" lIns="30480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Quejas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84369F4-1C51-F98C-549A-9ED1576E16FD}"/>
              </a:ext>
            </a:extLst>
          </p:cNvPr>
          <p:cNvSpPr txBox="1"/>
          <p:nvPr/>
        </p:nvSpPr>
        <p:spPr>
          <a:xfrm>
            <a:off x="304246" y="2072330"/>
            <a:ext cx="346862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Riesgo de deserción (Churn).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AAF1D1A-094B-5A4E-282C-27510DC3F9CE}"/>
              </a:ext>
            </a:extLst>
          </p:cNvPr>
          <p:cNvSpPr txBox="1"/>
          <p:nvPr/>
        </p:nvSpPr>
        <p:spPr>
          <a:xfrm>
            <a:off x="304246" y="2443805"/>
            <a:ext cx="346862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Acción: Prioridad 1 (Retención).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54695B3-2379-8692-5FD7-76D62F31A351}"/>
              </a:ext>
            </a:extLst>
          </p:cNvPr>
          <p:cNvSpPr txBox="1"/>
          <p:nvPr/>
        </p:nvSpPr>
        <p:spPr>
          <a:xfrm>
            <a:off x="3936396" y="1681805"/>
            <a:ext cx="3642056" cy="276225"/>
          </a:xfrm>
          <a:prstGeom prst="rect">
            <a:avLst/>
          </a:prstGeom>
          <a:noFill/>
        </p:spPr>
        <p:txBody>
          <a:bodyPr wrap="none" lIns="30480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General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D733A37-7AB0-5545-C762-C2E3FEC4A081}"/>
              </a:ext>
            </a:extLst>
          </p:cNvPr>
          <p:cNvSpPr txBox="1"/>
          <p:nvPr/>
        </p:nvSpPr>
        <p:spPr>
          <a:xfrm>
            <a:off x="3936396" y="2072330"/>
            <a:ext cx="346862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Consultas de baja complejidad.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4A126C3-34B5-4716-92DB-6B25767D3BEA}"/>
              </a:ext>
            </a:extLst>
          </p:cNvPr>
          <p:cNvSpPr txBox="1"/>
          <p:nvPr/>
        </p:nvSpPr>
        <p:spPr>
          <a:xfrm>
            <a:off x="3936396" y="2443805"/>
            <a:ext cx="346862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Acción: Flujo automatizado.</a:t>
            </a:r>
          </a:p>
        </p:txBody>
      </p:sp>
    </p:spTree>
    <p:extLst>
      <p:ext uri="{BB962C8B-B14F-4D97-AF65-F5344CB8AC3E}">
        <p14:creationId xmlns:p14="http://schemas.microsoft.com/office/powerpoint/2010/main" val="3151150723"/>
      </p:ext>
    </p:extLst>
  </p:cSld>
  <p:clrMapOvr>
    <a:masterClrMapping/>
  </p:clrMapOvr>
</p:sld>
</file>

<file path=ppt/theme/theme1.xml><?xml version="1.0" encoding="utf-8"?>
<a:theme xmlns:a="http://schemas.openxmlformats.org/drawingml/2006/main" name="BoldUnderlinesKeynote">
  <a:themeElements>
    <a:clrScheme name="NB - Keynote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003A41"/>
      </a:accent1>
      <a:accent2>
        <a:srgbClr val="ECEBE3"/>
      </a:accent2>
      <a:accent3>
        <a:srgbClr val="400023"/>
      </a:accent3>
      <a:accent4>
        <a:srgbClr val="68989E"/>
      </a:accent4>
      <a:accent5>
        <a:srgbClr val="BFB360"/>
      </a:accent5>
      <a:accent6>
        <a:srgbClr val="BF6093"/>
      </a:accent6>
      <a:hlink>
        <a:srgbClr val="169C9A"/>
      </a:hlink>
      <a:folHlink>
        <a:srgbClr val="E15C3D"/>
      </a:folHlink>
    </a:clrScheme>
    <a:fontScheme name="Custom 9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ld underlines keynote presentation _win32_DN_v2" id="{E18D5B16-117C-46FD-8B97-39D77F728B32}" vid="{93298573-99F9-4CB3-90C8-DB41313B575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purl.org/dc/terms/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230e9df3-be65-4c73-a93b-d1236ebd677e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{70A75141-3FB2-4158-A7A5-FAE5A6FB09D1}e68b7f07-47f1-4c94-a1ca-e7d736a42cf8-TF86f18fb6-1448-4a46-9973-da86b5b4a1df94418399_win32</Template>
  <TotalTime>222</TotalTime>
  <Words>255</Words>
  <Application>Microsoft Office PowerPoint</Application>
  <PresentationFormat>Widescreen</PresentationFormat>
  <Paragraphs>59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Black</vt:lpstr>
      <vt:lpstr>Aptos Light</vt:lpstr>
      <vt:lpstr>Arial</vt:lpstr>
      <vt:lpstr>Inter</vt:lpstr>
      <vt:lpstr>BoldUnderlinesKeynote</vt:lpstr>
      <vt:lpstr>Impacto de la Campaña WhatsApp</vt:lpstr>
      <vt:lpstr>Contexto</vt:lpstr>
      <vt:lpstr>Dashboard</vt:lpstr>
      <vt:lpstr>Análisis de Tráfico de Mensajería y Soporte</vt:lpstr>
      <vt:lpstr>Quote</vt:lpstr>
      <vt:lpstr>Descubrimientos</vt:lpstr>
      <vt:lpstr>Escalabilidad (Mindset FinOps)</vt:lpstr>
      <vt:lpstr>Estrategia para soportar 50 usuarios concurrentes sin colapsar el servidor transaccional. </vt:lpstr>
      <vt:lpstr>Gracias</vt:lpstr>
      <vt:lpstr>Priorización por Intención (NLP)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Manuel Merchan Caceres</dc:creator>
  <cp:lastModifiedBy>Manuel Merchan Caceres</cp:lastModifiedBy>
  <cp:revision>7</cp:revision>
  <dcterms:created xsi:type="dcterms:W3CDTF">2026-09-26T22:33:33Z</dcterms:created>
  <dcterms:modified xsi:type="dcterms:W3CDTF">2026-09-27T20:05:21Z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